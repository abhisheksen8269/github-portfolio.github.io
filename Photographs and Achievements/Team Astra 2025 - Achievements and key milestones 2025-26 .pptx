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6" r:id="rId18"/>
    <p:sldId id="287" r:id="rId19"/>
    <p:sldId id="288" r:id="rId20"/>
    <p:sldId id="289" r:id="rId21"/>
    <p:sldId id="291" r:id="rId22"/>
    <p:sldId id="292" r:id="rId23"/>
  </p:sldIdLst>
  <p:sldSz cx="18288000" cy="10287000"/>
  <p:notesSz cx="6858000" cy="9144000"/>
  <p:embeddedFontLst>
    <p:embeddedFont>
      <p:font typeface="Century Schoolbook" panose="020406040505050203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cK9nx2E1gimza+hScjkEOeIsZ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5748582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857485821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3857485821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57485821f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857485821f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857485821f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3086c409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383086c409e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2" name="Google Shape;312;g383086c409e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57485821f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857485821f_5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3857485821f_5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3086c409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83086c409e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g383086c409e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3086c409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83086c409e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383086c409e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3086c409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383086c409e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g383086c409e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57485821f_5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3857485821f_5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857485821f_5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7858be4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27858be4ea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327858be4ea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27858be4e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27858be4ea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327858be4ea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57485821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857485821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g3857485821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b1d1d901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g37b1d1d9018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g37b1d1d9018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8" name="Google Shape;518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7b1e4d818e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g37b1e4d818e_3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3" name="Google Shape;543;g37b1e4d818e_3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27858be4e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327858be4ea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8" name="Google Shape;558;g327858be4ea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2" name="Google Shape;22;p6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3" name="Google Shape;23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6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12" Type="http://schemas.openxmlformats.org/officeDocument/2006/relationships/image" Target="../media/image3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11" Type="http://schemas.openxmlformats.org/officeDocument/2006/relationships/image" Target="../media/image36.jpg"/><Relationship Id="rId5" Type="http://schemas.openxmlformats.org/officeDocument/2006/relationships/image" Target="../media/image30.jpg"/><Relationship Id="rId10" Type="http://schemas.openxmlformats.org/officeDocument/2006/relationships/image" Target="../media/image35.jpg"/><Relationship Id="rId4" Type="http://schemas.openxmlformats.org/officeDocument/2006/relationships/image" Target="../media/image29.jpg"/><Relationship Id="rId9" Type="http://schemas.openxmlformats.org/officeDocument/2006/relationships/image" Target="../media/image34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2.png"/><Relationship Id="rId7" Type="http://schemas.openxmlformats.org/officeDocument/2006/relationships/image" Target="../media/image4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2.png"/><Relationship Id="rId7" Type="http://schemas.openxmlformats.org/officeDocument/2006/relationships/image" Target="../media/image4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g"/><Relationship Id="rId5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4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jpg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hyperlink" Target="http://drive.google.com/file/d/1x8FUdRF6lZA6i6MbSriP3WfQRCPLphs5/view" TargetMode="External"/><Relationship Id="rId7" Type="http://schemas.openxmlformats.org/officeDocument/2006/relationships/hyperlink" Target="http://drive.google.com/file/d/1XDi6rKOuBvJszts_D7Tr-AyVQOxJ95S_/view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jpg"/><Relationship Id="rId5" Type="http://schemas.openxmlformats.org/officeDocument/2006/relationships/hyperlink" Target="http://drive.google.com/file/d/1a-PKjfDs8vKhRwIA1Q3kRvkYHIMIU0w_/view" TargetMode="External"/><Relationship Id="rId4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l="6845" t="5353" r="62350" b="29561"/>
          <a:stretch/>
        </p:blipFill>
        <p:spPr>
          <a:xfrm>
            <a:off x="-152400" y="-88336"/>
            <a:ext cx="8991599" cy="1069847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 rot="3431438">
            <a:off x="-4311877" y="6366201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9772714">
            <a:off x="-4697012" y="-469358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368550" y="2236300"/>
            <a:ext cx="6442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Astra</a:t>
            </a:r>
            <a:endParaRPr sz="9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25200" y="6550254"/>
            <a:ext cx="4928094" cy="202909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1003353" y="3591497"/>
            <a:ext cx="5172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Aerobotics 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 rot="-10584538">
            <a:off x="10618763" y="-551056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101" name="Google Shape;101;p2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2"/>
          <p:cNvSpPr/>
          <p:nvPr/>
        </p:nvSpPr>
        <p:spPr>
          <a:xfrm rot="475285">
            <a:off x="-3503549" y="7500580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 b="25775"/>
          <a:stretch/>
        </p:blipFill>
        <p:spPr>
          <a:xfrm>
            <a:off x="745617" y="2993529"/>
            <a:ext cx="7941183" cy="347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l="17376" t="76321" r="17374"/>
          <a:stretch/>
        </p:blipFill>
        <p:spPr>
          <a:xfrm>
            <a:off x="2125409" y="6473904"/>
            <a:ext cx="5181599" cy="1107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"/>
          <p:cNvCxnSpPr/>
          <p:nvPr/>
        </p:nvCxnSpPr>
        <p:spPr>
          <a:xfrm>
            <a:off x="9144000" y="4576561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2"/>
          <p:cNvSpPr txBox="1"/>
          <p:nvPr/>
        </p:nvSpPr>
        <p:spPr>
          <a:xfrm>
            <a:off x="9601198" y="2039504"/>
            <a:ext cx="7560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601200" y="3609399"/>
            <a:ext cx="86868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dynamic and multidisciplinary team of students building </a:t>
            </a:r>
            <a:r>
              <a:rPr lang="en-IN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UAVs. </a:t>
            </a: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Team under SAE Club of IIITDM Kancheepuram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601203" y="7581900"/>
            <a:ext cx="706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Lets explore the world of </a:t>
            </a:r>
            <a:r>
              <a:rPr lang="en-IN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aerial robotics </a:t>
            </a: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6">
            <a:alphaModFix/>
          </a:blip>
          <a:srcRect t="5379" b="4588"/>
          <a:stretch/>
        </p:blipFill>
        <p:spPr>
          <a:xfrm>
            <a:off x="1834909" y="495300"/>
            <a:ext cx="2598864" cy="224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77780" y="494954"/>
            <a:ext cx="1597404" cy="22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 rot="-8820945">
            <a:off x="10618763" y="-551056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117" name="Google Shape;117;p3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3"/>
          <p:cNvSpPr/>
          <p:nvPr/>
        </p:nvSpPr>
        <p:spPr>
          <a:xfrm rot="2542339">
            <a:off x="-3027412" y="6868341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19" name="Google Shape;119;p3"/>
          <p:cNvPicPr preferRelativeResize="0"/>
          <p:nvPr/>
        </p:nvPicPr>
        <p:blipFill rotWithShape="1">
          <a:blip r:embed="rId5">
            <a:alphaModFix/>
          </a:blip>
          <a:srcRect b="25775"/>
          <a:stretch/>
        </p:blipFill>
        <p:spPr>
          <a:xfrm>
            <a:off x="745617" y="2993529"/>
            <a:ext cx="7941183" cy="347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 l="17376" t="76321" r="17374"/>
          <a:stretch/>
        </p:blipFill>
        <p:spPr>
          <a:xfrm>
            <a:off x="2125409" y="6473904"/>
            <a:ext cx="5181599" cy="1107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3"/>
          <p:cNvCxnSpPr/>
          <p:nvPr/>
        </p:nvCxnSpPr>
        <p:spPr>
          <a:xfrm>
            <a:off x="9144000" y="4576561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3"/>
          <p:cNvSpPr txBox="1"/>
          <p:nvPr/>
        </p:nvSpPr>
        <p:spPr>
          <a:xfrm>
            <a:off x="9601198" y="2741354"/>
            <a:ext cx="756017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9601198" y="4576561"/>
            <a:ext cx="8240537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explore and develop advance technologies in field of Aerial Robotics which includes UAVs, Fixed Wings etc.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 rot="-6566454">
            <a:off x="13548333" y="-190778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0" name="Google Shape;130;p4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4"/>
          <p:cNvSpPr/>
          <p:nvPr/>
        </p:nvSpPr>
        <p:spPr>
          <a:xfrm rot="3832260">
            <a:off x="-5588952" y="4428860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-2942"/>
          <a:stretch/>
        </p:blipFill>
        <p:spPr>
          <a:xfrm>
            <a:off x="5051196" y="1409700"/>
            <a:ext cx="7945136" cy="48193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4"/>
          <p:cNvCxnSpPr/>
          <p:nvPr/>
        </p:nvCxnSpPr>
        <p:spPr>
          <a:xfrm>
            <a:off x="8839200" y="-31623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4"/>
          <p:cNvSpPr txBox="1"/>
          <p:nvPr/>
        </p:nvSpPr>
        <p:spPr>
          <a:xfrm>
            <a:off x="4183156" y="6355544"/>
            <a:ext cx="931208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Competitions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57485821f_0_0"/>
          <p:cNvSpPr/>
          <p:nvPr/>
        </p:nvSpPr>
        <p:spPr>
          <a:xfrm rot="-6565925">
            <a:off x="13378815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141" name="Google Shape;141;g3857485821f_0_0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g3857485821f_0_0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43" name="Google Shape;143;g3857485821f_0_0"/>
          <p:cNvPicPr preferRelativeResize="0"/>
          <p:nvPr/>
        </p:nvPicPr>
        <p:blipFill rotWithShape="1">
          <a:blip r:embed="rId5">
            <a:alphaModFix/>
          </a:blip>
          <a:srcRect b="-2944"/>
          <a:stretch/>
        </p:blipFill>
        <p:spPr>
          <a:xfrm>
            <a:off x="-103177" y="0"/>
            <a:ext cx="3891748" cy="236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857485821f_0_0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g3857485821f_0_0"/>
          <p:cNvSpPr txBox="1"/>
          <p:nvPr/>
        </p:nvSpPr>
        <p:spPr>
          <a:xfrm>
            <a:off x="4357123" y="657475"/>
            <a:ext cx="13067700" cy="24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7700" b="1">
                <a:solidFill>
                  <a:srgbClr val="1F1F1F"/>
                </a:solidFill>
              </a:rPr>
              <a:t>ISRO Robotics Challenge 2025</a:t>
            </a:r>
            <a:endParaRPr sz="7700" b="1">
              <a:solidFill>
                <a:srgbClr val="1F1F1F"/>
              </a:solidFill>
            </a:endParaRPr>
          </a:p>
        </p:txBody>
      </p:sp>
      <p:pic>
        <p:nvPicPr>
          <p:cNvPr id="146" name="Google Shape;146;g3857485821f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625" y="3780600"/>
            <a:ext cx="16691649" cy="51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57485821f_2_1"/>
          <p:cNvSpPr/>
          <p:nvPr/>
        </p:nvSpPr>
        <p:spPr>
          <a:xfrm rot="-6565925">
            <a:off x="13378815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153" name="Google Shape;153;g3857485821f_2_1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g3857485821f_2_1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155" name="Google Shape;155;g3857485821f_2_1"/>
          <p:cNvPicPr preferRelativeResize="0"/>
          <p:nvPr/>
        </p:nvPicPr>
        <p:blipFill rotWithShape="1">
          <a:blip r:embed="rId5">
            <a:alphaModFix/>
          </a:blip>
          <a:srcRect b="-2944"/>
          <a:stretch/>
        </p:blipFill>
        <p:spPr>
          <a:xfrm>
            <a:off x="-103177" y="0"/>
            <a:ext cx="3891748" cy="236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3857485821f_2_1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g3857485821f_2_1"/>
          <p:cNvSpPr txBox="1"/>
          <p:nvPr/>
        </p:nvSpPr>
        <p:spPr>
          <a:xfrm>
            <a:off x="3788573" y="544625"/>
            <a:ext cx="13067700" cy="24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7700" b="1">
                <a:solidFill>
                  <a:srgbClr val="1F1F1F"/>
                </a:solidFill>
              </a:rPr>
              <a:t>ISRO Robotics Challenge 2025</a:t>
            </a:r>
            <a:endParaRPr sz="7700" b="1">
              <a:solidFill>
                <a:srgbClr val="1F1F1F"/>
              </a:solidFill>
            </a:endParaRPr>
          </a:p>
        </p:txBody>
      </p:sp>
      <p:pic>
        <p:nvPicPr>
          <p:cNvPr id="158" name="Google Shape;158;g3857485821f_2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325" y="3042113"/>
            <a:ext cx="5603701" cy="420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857485821f_2_1" title="20250822_085707.jpg"/>
          <p:cNvPicPr preferRelativeResize="0"/>
          <p:nvPr/>
        </p:nvPicPr>
        <p:blipFill rotWithShape="1">
          <a:blip r:embed="rId7">
            <a:alphaModFix/>
          </a:blip>
          <a:srcRect t="23804" b="32106"/>
          <a:stretch/>
        </p:blipFill>
        <p:spPr>
          <a:xfrm>
            <a:off x="6092413" y="5410650"/>
            <a:ext cx="5773743" cy="45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857485821f_2_1" title="67180c36-3e4e-4ce1-a796-f5c83a4a99b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20550" y="2962375"/>
            <a:ext cx="6029322" cy="45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4" y="0"/>
            <a:ext cx="1826693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/>
          <p:nvPr/>
        </p:nvSpPr>
        <p:spPr>
          <a:xfrm rot="-7570898">
            <a:off x="13066159" y="-3581633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281" name="Google Shape;28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0" y="190500"/>
            <a:ext cx="3232922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/>
          <p:nvPr/>
        </p:nvSpPr>
        <p:spPr>
          <a:xfrm rot="4499594">
            <a:off x="-6476139" y="4451414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0"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/>
          <p:nvPr/>
        </p:nvSpPr>
        <p:spPr>
          <a:xfrm rot="-6566454">
            <a:off x="13548333" y="-190778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04" name="Google Shape;304;p42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42"/>
          <p:cNvSpPr/>
          <p:nvPr/>
        </p:nvSpPr>
        <p:spPr>
          <a:xfrm rot="3832260">
            <a:off x="-5588952" y="4428860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306" name="Google Shape;306;p42"/>
          <p:cNvPicPr preferRelativeResize="0"/>
          <p:nvPr/>
        </p:nvPicPr>
        <p:blipFill rotWithShape="1">
          <a:blip r:embed="rId5">
            <a:alphaModFix/>
          </a:blip>
          <a:srcRect b="-2942"/>
          <a:stretch/>
        </p:blipFill>
        <p:spPr>
          <a:xfrm>
            <a:off x="4866631" y="1409700"/>
            <a:ext cx="7945136" cy="48193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42"/>
          <p:cNvCxnSpPr/>
          <p:nvPr/>
        </p:nvCxnSpPr>
        <p:spPr>
          <a:xfrm>
            <a:off x="8839200" y="-31623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" name="Google Shape;308;p42"/>
          <p:cNvSpPr txBox="1"/>
          <p:nvPr/>
        </p:nvSpPr>
        <p:spPr>
          <a:xfrm>
            <a:off x="4183156" y="6355544"/>
            <a:ext cx="931208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Our Achievements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3086c409e_0_4"/>
          <p:cNvSpPr/>
          <p:nvPr/>
        </p:nvSpPr>
        <p:spPr>
          <a:xfrm rot="-6565925">
            <a:off x="13550990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15" name="Google Shape;315;g383086c409e_0_4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g383086c409e_0_4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17" name="Google Shape;317;g383086c409e_0_4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8" name="Google Shape;318;g383086c409e_0_4"/>
          <p:cNvSpPr txBox="1"/>
          <p:nvPr/>
        </p:nvSpPr>
        <p:spPr>
          <a:xfrm>
            <a:off x="4183156" y="6355544"/>
            <a:ext cx="93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83086c409e_0_4"/>
          <p:cNvSpPr txBox="1"/>
          <p:nvPr/>
        </p:nvSpPr>
        <p:spPr>
          <a:xfrm>
            <a:off x="2560975" y="903875"/>
            <a:ext cx="12012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>
                <a:solidFill>
                  <a:schemeClr val="dk1"/>
                </a:solidFill>
              </a:rPr>
              <a:t>ISRO Robotics Challenge 2025</a:t>
            </a:r>
            <a:endParaRPr sz="6000"/>
          </a:p>
        </p:txBody>
      </p:sp>
      <p:sp>
        <p:nvSpPr>
          <p:cNvPr id="320" name="Google Shape;320;g383086c409e_0_4"/>
          <p:cNvSpPr txBox="1"/>
          <p:nvPr/>
        </p:nvSpPr>
        <p:spPr>
          <a:xfrm>
            <a:off x="994275" y="1919650"/>
            <a:ext cx="159684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Our journey in the </a:t>
            </a: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ISRO Robotics Challenge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, where,</a:t>
            </a:r>
            <a:endParaRPr sz="3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596900" lvl="0" indent="-431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3200"/>
              <a:buChar char="●"/>
            </a:pP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Total registrations: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510 teams</a:t>
            </a:r>
            <a:endParaRPr sz="3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5969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Char char="●"/>
            </a:pP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Preliminary Round: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222 teams selected</a:t>
            </a:r>
            <a:endParaRPr sz="3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5969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Char char="●"/>
            </a:pP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Qualification Round: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177 teams advanced</a:t>
            </a:r>
            <a:endParaRPr sz="3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5969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Char char="●"/>
            </a:pP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Elimination Round: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37 teams remained</a:t>
            </a:r>
            <a:endParaRPr sz="3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5969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200"/>
              <a:buChar char="●"/>
            </a:pPr>
            <a:r>
              <a:rPr lang="en-IN" sz="3200" b="1">
                <a:solidFill>
                  <a:srgbClr val="222222"/>
                </a:solidFill>
                <a:highlight>
                  <a:srgbClr val="FFFFFF"/>
                </a:highlight>
              </a:rPr>
              <a:t>Final Round at ISRO Headquarters, Bengaluru:</a:t>
            </a:r>
            <a:r>
              <a:rPr lang="en-IN" sz="3200">
                <a:solidFill>
                  <a:srgbClr val="222222"/>
                </a:solidFill>
                <a:highlight>
                  <a:srgbClr val="FFFFFF"/>
                </a:highlight>
              </a:rPr>
              <a:t> Only 16 top teams qualified — including ours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g383086c409e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8838" y="6011350"/>
            <a:ext cx="11380620" cy="40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57485821f_5_4"/>
          <p:cNvSpPr/>
          <p:nvPr/>
        </p:nvSpPr>
        <p:spPr>
          <a:xfrm rot="-6565925">
            <a:off x="13550990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28" name="Google Shape;328;g3857485821f_5_4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g3857485821f_5_4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30" name="Google Shape;330;g3857485821f_5_4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" name="Google Shape;331;g3857485821f_5_4"/>
          <p:cNvSpPr txBox="1"/>
          <p:nvPr/>
        </p:nvSpPr>
        <p:spPr>
          <a:xfrm>
            <a:off x="4183156" y="6355544"/>
            <a:ext cx="93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857485821f_5_4"/>
          <p:cNvSpPr txBox="1"/>
          <p:nvPr/>
        </p:nvSpPr>
        <p:spPr>
          <a:xfrm>
            <a:off x="494975" y="344325"/>
            <a:ext cx="1754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4800" b="1">
                <a:solidFill>
                  <a:schemeClr val="dk1"/>
                </a:solidFill>
              </a:rPr>
              <a:t>Final Round on 5th August 2025 on Bangalore Onsite</a:t>
            </a:r>
            <a:endParaRPr sz="4800"/>
          </a:p>
        </p:txBody>
      </p:sp>
      <p:pic>
        <p:nvPicPr>
          <p:cNvPr id="333" name="Google Shape;333;g3857485821f_5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475" y="1617600"/>
            <a:ext cx="14272674" cy="79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3086c409e_0_34"/>
          <p:cNvSpPr/>
          <p:nvPr/>
        </p:nvSpPr>
        <p:spPr>
          <a:xfrm rot="-6565925">
            <a:off x="13550990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40" name="Google Shape;340;g383086c409e_0_34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Google Shape;341;g383086c409e_0_34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42" name="Google Shape;342;g383086c409e_0_34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g383086c409e_0_34"/>
          <p:cNvSpPr txBox="1"/>
          <p:nvPr/>
        </p:nvSpPr>
        <p:spPr>
          <a:xfrm>
            <a:off x="4183156" y="6355544"/>
            <a:ext cx="93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83086c409e_0_34"/>
          <p:cNvSpPr txBox="1"/>
          <p:nvPr/>
        </p:nvSpPr>
        <p:spPr>
          <a:xfrm>
            <a:off x="494975" y="344325"/>
            <a:ext cx="1754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4800" b="1">
                <a:solidFill>
                  <a:schemeClr val="dk1"/>
                </a:solidFill>
              </a:rPr>
              <a:t>Final Round on 5th August 2025 on Bangalore Onsite</a:t>
            </a:r>
            <a:endParaRPr sz="4800"/>
          </a:p>
        </p:txBody>
      </p:sp>
      <p:pic>
        <p:nvPicPr>
          <p:cNvPr id="345" name="Google Shape;345;g383086c409e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75" y="1809500"/>
            <a:ext cx="7431129" cy="42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83086c409e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8751" y="1809500"/>
            <a:ext cx="6941750" cy="42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83086c409e_0_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75" y="6562250"/>
            <a:ext cx="7965275" cy="332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83086c409e_0_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4625" y="6371763"/>
            <a:ext cx="5504950" cy="37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3086c409e_0_53"/>
          <p:cNvSpPr/>
          <p:nvPr/>
        </p:nvSpPr>
        <p:spPr>
          <a:xfrm rot="-6565925">
            <a:off x="13550990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55" name="Google Shape;355;g383086c409e_0_53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" name="Google Shape;356;g383086c409e_0_53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57" name="Google Shape;357;g383086c409e_0_53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8" name="Google Shape;358;g383086c409e_0_53"/>
          <p:cNvSpPr txBox="1"/>
          <p:nvPr/>
        </p:nvSpPr>
        <p:spPr>
          <a:xfrm>
            <a:off x="4183156" y="6355544"/>
            <a:ext cx="93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83086c409e_0_53"/>
          <p:cNvSpPr txBox="1"/>
          <p:nvPr/>
        </p:nvSpPr>
        <p:spPr>
          <a:xfrm>
            <a:off x="494975" y="344325"/>
            <a:ext cx="1754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4800" b="1">
                <a:solidFill>
                  <a:schemeClr val="dk1"/>
                </a:solidFill>
              </a:rPr>
              <a:t>Invitation to attend National Space Day 2025 at New Delhi</a:t>
            </a:r>
            <a:endParaRPr sz="4800"/>
          </a:p>
        </p:txBody>
      </p:sp>
      <p:pic>
        <p:nvPicPr>
          <p:cNvPr id="360" name="Google Shape;360;g383086c409e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925" y="1267725"/>
            <a:ext cx="4113050" cy="69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83086c409e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0900" y="1267725"/>
            <a:ext cx="11191650" cy="66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83086c409e_0_53"/>
          <p:cNvSpPr txBox="1"/>
          <p:nvPr/>
        </p:nvSpPr>
        <p:spPr>
          <a:xfrm>
            <a:off x="1294775" y="8482750"/>
            <a:ext cx="50151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ISRO former Chairman S.Somanath</a:t>
            </a: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(During his leadership , Chandrayan -03 </a:t>
            </a:r>
            <a:endParaRPr sz="18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Soft landing on South pole of the Moon, Aditya ,L1 Mission ,Gaganyan mission</a:t>
            </a:r>
            <a:r>
              <a:rPr lang="en-I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)</a:t>
            </a:r>
            <a:endParaRPr sz="2100"/>
          </a:p>
        </p:txBody>
      </p:sp>
      <p:sp>
        <p:nvSpPr>
          <p:cNvPr id="363" name="Google Shape;363;g383086c409e_0_53"/>
          <p:cNvSpPr txBox="1"/>
          <p:nvPr/>
        </p:nvSpPr>
        <p:spPr>
          <a:xfrm>
            <a:off x="7568975" y="7684005"/>
            <a:ext cx="8155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Group Commander Angad Pratap one of the 4 Astronauts who selected for Gagaanyan Mission 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3086c409e_0_83"/>
          <p:cNvSpPr/>
          <p:nvPr/>
        </p:nvSpPr>
        <p:spPr>
          <a:xfrm rot="-6565925">
            <a:off x="13550990" y="-1901418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70" name="Google Shape;370;g383086c409e_0_83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1" name="Google Shape;371;g383086c409e_0_83"/>
          <p:cNvSpPr/>
          <p:nvPr/>
        </p:nvSpPr>
        <p:spPr>
          <a:xfrm rot="3833014">
            <a:off x="-5587380" y="4427495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72" name="Google Shape;372;g383086c409e_0_83"/>
          <p:cNvCxnSpPr/>
          <p:nvPr/>
        </p:nvCxnSpPr>
        <p:spPr>
          <a:xfrm>
            <a:off x="8839200" y="-31623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3" name="Google Shape;373;g383086c409e_0_83"/>
          <p:cNvSpPr txBox="1"/>
          <p:nvPr/>
        </p:nvSpPr>
        <p:spPr>
          <a:xfrm>
            <a:off x="4183156" y="6355544"/>
            <a:ext cx="931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83086c409e_0_83"/>
          <p:cNvSpPr txBox="1"/>
          <p:nvPr/>
        </p:nvSpPr>
        <p:spPr>
          <a:xfrm>
            <a:off x="494975" y="344325"/>
            <a:ext cx="1754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4800" b="1">
                <a:solidFill>
                  <a:schemeClr val="dk1"/>
                </a:solidFill>
              </a:rPr>
              <a:t>Invitation to attend National Space Day 2025 at New Delhi</a:t>
            </a:r>
            <a:endParaRPr sz="4800"/>
          </a:p>
        </p:txBody>
      </p:sp>
      <p:sp>
        <p:nvSpPr>
          <p:cNvPr id="375" name="Google Shape;375;g383086c409e_0_83"/>
          <p:cNvSpPr txBox="1"/>
          <p:nvPr/>
        </p:nvSpPr>
        <p:spPr>
          <a:xfrm flipH="1">
            <a:off x="-1243825" y="8482750"/>
            <a:ext cx="2538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376" name="Google Shape;376;g383086c409e_0_83"/>
          <p:cNvSpPr txBox="1"/>
          <p:nvPr/>
        </p:nvSpPr>
        <p:spPr>
          <a:xfrm>
            <a:off x="7568975" y="7684005"/>
            <a:ext cx="8155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377" name="Google Shape;377;g383086c409e_0_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950" y="1897800"/>
            <a:ext cx="6838225" cy="81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83086c409e_0_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82138" y="1669874"/>
            <a:ext cx="6838226" cy="386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83086c409e_0_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2150" y="5625600"/>
            <a:ext cx="6838225" cy="444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57485821f_5_15"/>
          <p:cNvSpPr/>
          <p:nvPr/>
        </p:nvSpPr>
        <p:spPr>
          <a:xfrm rot="3833014">
            <a:off x="-7292080" y="5307620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386" name="Google Shape;386;g3857485821f_5_15"/>
          <p:cNvSpPr/>
          <p:nvPr/>
        </p:nvSpPr>
        <p:spPr>
          <a:xfrm rot="-6565925">
            <a:off x="14703990" y="-2460943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387" name="Google Shape;387;g3857485821f_5_15"/>
          <p:cNvSpPr txBox="1"/>
          <p:nvPr/>
        </p:nvSpPr>
        <p:spPr>
          <a:xfrm>
            <a:off x="2559900" y="630000"/>
            <a:ext cx="134076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SAE Aerothon 202</a:t>
            </a:r>
            <a:r>
              <a:rPr lang="en-IN" sz="7200">
                <a:solidFill>
                  <a:srgbClr val="1F1F1F"/>
                </a:solidFill>
              </a:rPr>
              <a:t>5</a:t>
            </a: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Phase 1</a:t>
            </a: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Design Report Submission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857485821f_5_15"/>
          <p:cNvSpPr txBox="1"/>
          <p:nvPr/>
        </p:nvSpPr>
        <p:spPr>
          <a:xfrm>
            <a:off x="1013950" y="4437625"/>
            <a:ext cx="86514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Secured </a:t>
            </a:r>
            <a:r>
              <a:rPr lang="en-IN" sz="7200">
                <a:solidFill>
                  <a:schemeClr val="dk1"/>
                </a:solidFill>
              </a:rPr>
              <a:t>AIR 8 in Phase 1 Design Report Presentation</a:t>
            </a:r>
            <a:endParaRPr sz="7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g3857485821f_5_15" title="IMG_20250614_154738332_HDR_AE.jpg"/>
          <p:cNvPicPr preferRelativeResize="0"/>
          <p:nvPr/>
        </p:nvPicPr>
        <p:blipFill rotWithShape="1">
          <a:blip r:embed="rId5">
            <a:alphaModFix/>
          </a:blip>
          <a:srcRect l="12239" r="12994"/>
          <a:stretch/>
        </p:blipFill>
        <p:spPr>
          <a:xfrm>
            <a:off x="10450450" y="3897925"/>
            <a:ext cx="7255598" cy="54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7858be4ea_0_4"/>
          <p:cNvSpPr/>
          <p:nvPr/>
        </p:nvSpPr>
        <p:spPr>
          <a:xfrm rot="3833014">
            <a:off x="-7292080" y="5307620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396" name="Google Shape;396;g327858be4ea_0_4"/>
          <p:cNvSpPr/>
          <p:nvPr/>
        </p:nvSpPr>
        <p:spPr>
          <a:xfrm rot="-6565925">
            <a:off x="14703990" y="-2460943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397" name="Google Shape;397;g327858be4ea_0_4"/>
          <p:cNvSpPr txBox="1"/>
          <p:nvPr/>
        </p:nvSpPr>
        <p:spPr>
          <a:xfrm>
            <a:off x="1842200" y="649925"/>
            <a:ext cx="134076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SAE Aerothon 2024 :</a:t>
            </a: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Phase 1</a:t>
            </a: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Design Report Submission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g327858be4ea_0_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6000" y="3815050"/>
            <a:ext cx="7902001" cy="59704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27858be4ea_0_4"/>
          <p:cNvSpPr txBox="1"/>
          <p:nvPr/>
        </p:nvSpPr>
        <p:spPr>
          <a:xfrm>
            <a:off x="1532300" y="4437625"/>
            <a:ext cx="86514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Secured top 30 position in Phase 1 Design report presentation</a:t>
            </a:r>
            <a:endParaRPr sz="7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27858be4ea_0_14"/>
          <p:cNvSpPr/>
          <p:nvPr/>
        </p:nvSpPr>
        <p:spPr>
          <a:xfrm rot="3833014">
            <a:off x="-7292080" y="5307620"/>
            <a:ext cx="10439015" cy="848407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406" name="Google Shape;406;g327858be4ea_0_14"/>
          <p:cNvSpPr/>
          <p:nvPr/>
        </p:nvSpPr>
        <p:spPr>
          <a:xfrm rot="-6565925">
            <a:off x="14703990" y="-2460943"/>
            <a:ext cx="10437741" cy="8483037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407" name="Google Shape;407;g327858be4ea_0_14"/>
          <p:cNvSpPr txBox="1"/>
          <p:nvPr/>
        </p:nvSpPr>
        <p:spPr>
          <a:xfrm>
            <a:off x="0" y="0"/>
            <a:ext cx="176514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SAE Aerothon 2024: Phase II</a:t>
            </a:r>
            <a:endParaRPr sz="72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lang="en-IN" sz="51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14 to 17 November, Bengaluru</a:t>
            </a:r>
            <a:endParaRPr sz="5100" b="0" i="0" u="none" strike="noStrike" cap="none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g327858be4ea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0768" y="2768225"/>
            <a:ext cx="9847924" cy="738594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27858be4ea_0_14"/>
          <p:cNvSpPr txBox="1"/>
          <p:nvPr/>
        </p:nvSpPr>
        <p:spPr>
          <a:xfrm>
            <a:off x="843625" y="2642775"/>
            <a:ext cx="6714600" cy="60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IN"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Completed our manual and Autonomous Operation 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57485821f_1_0"/>
          <p:cNvSpPr/>
          <p:nvPr/>
        </p:nvSpPr>
        <p:spPr>
          <a:xfrm>
            <a:off x="3107400" y="124625"/>
            <a:ext cx="12073200" cy="1005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g3857485821f_1_0" title="IMG_20250901_2333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325" y="2832870"/>
            <a:ext cx="4784476" cy="193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857485821f_1_0" title="IMG_20250901_2335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837" y="337150"/>
            <a:ext cx="4958326" cy="157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857485821f_1_0" title="IMG_20250901_23340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8675" y="4845825"/>
            <a:ext cx="5689098" cy="22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857485821f_1_0" title="IMG_20250901_23354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1">
            <a:off x="11747304" y="2865449"/>
            <a:ext cx="4629115" cy="1245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857485821f_1_0" title="IMG_20250901_233651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4">
            <a:off x="12350250" y="4143452"/>
            <a:ext cx="4181023" cy="178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857485821f_1_0" title="IMG_20250901_23375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31326" y="1159225"/>
            <a:ext cx="3255899" cy="167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857485821f_1_0" title="IMG_20250901_233936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112975" y="5947624"/>
            <a:ext cx="5701763" cy="11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857485821f_1_0" title="IMG_20250901_234024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93075" y="7088650"/>
            <a:ext cx="4784476" cy="183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857485821f_1_0" title="IMG_20250901_234134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4">
            <a:off x="4008600" y="6902953"/>
            <a:ext cx="4784476" cy="188457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857485821f_1_0"/>
          <p:cNvSpPr txBox="1"/>
          <p:nvPr/>
        </p:nvSpPr>
        <p:spPr>
          <a:xfrm>
            <a:off x="6562625" y="3639200"/>
            <a:ext cx="5787600" cy="15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7000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Appreciations</a:t>
            </a:r>
            <a:endParaRPr sz="70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0">
              <a:solidFill>
                <a:srgbClr val="674E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3" name="Google Shape;473;g3857485821f_1_0" title="WhatsApp Image 2025-09-02 at 21.30.22.jpe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-5400000">
            <a:off x="4227619" y="329175"/>
            <a:ext cx="1704782" cy="3153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/>
          <p:nvPr/>
        </p:nvSpPr>
        <p:spPr>
          <a:xfrm rot="-8821447">
            <a:off x="12934084" y="-4415258"/>
            <a:ext cx="10457381" cy="8498999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480" name="Google Shape;480;p47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47"/>
          <p:cNvSpPr/>
          <p:nvPr/>
        </p:nvSpPr>
        <p:spPr>
          <a:xfrm rot="3390499">
            <a:off x="-5029620" y="7416858"/>
            <a:ext cx="10456632" cy="8498390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482" name="Google Shape;482;p47"/>
          <p:cNvSpPr txBox="1"/>
          <p:nvPr/>
        </p:nvSpPr>
        <p:spPr>
          <a:xfrm>
            <a:off x="3903163" y="589488"/>
            <a:ext cx="756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47"/>
          <p:cNvGrpSpPr/>
          <p:nvPr/>
        </p:nvGrpSpPr>
        <p:grpSpPr>
          <a:xfrm>
            <a:off x="381000" y="425318"/>
            <a:ext cx="3000774" cy="1733830"/>
            <a:chOff x="745617" y="2993529"/>
            <a:chExt cx="7941183" cy="4588371"/>
          </a:xfrm>
        </p:grpSpPr>
        <p:pic>
          <p:nvPicPr>
            <p:cNvPr id="484" name="Google Shape;484;p47"/>
            <p:cNvPicPr preferRelativeResize="0"/>
            <p:nvPr/>
          </p:nvPicPr>
          <p:blipFill rotWithShape="1">
            <a:blip r:embed="rId5">
              <a:alphaModFix/>
            </a:blip>
            <a:srcRect b="25775"/>
            <a:stretch/>
          </p:blipFill>
          <p:spPr>
            <a:xfrm>
              <a:off x="745617" y="2993529"/>
              <a:ext cx="7941183" cy="3473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47"/>
            <p:cNvPicPr preferRelativeResize="0"/>
            <p:nvPr/>
          </p:nvPicPr>
          <p:blipFill rotWithShape="1">
            <a:blip r:embed="rId5">
              <a:alphaModFix/>
            </a:blip>
            <a:srcRect l="17376" t="76321" r="17374"/>
            <a:stretch/>
          </p:blipFill>
          <p:spPr>
            <a:xfrm>
              <a:off x="2125409" y="6473904"/>
              <a:ext cx="5181599" cy="11079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p47"/>
          <p:cNvSpPr txBox="1"/>
          <p:nvPr/>
        </p:nvSpPr>
        <p:spPr>
          <a:xfrm>
            <a:off x="2365800" y="589500"/>
            <a:ext cx="155937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>
                <a:solidFill>
                  <a:srgbClr val="1F1F1F"/>
                </a:solidFill>
              </a:rPr>
              <a:t>Team</a:t>
            </a:r>
            <a:r>
              <a:rPr lang="en-IN" sz="9600">
                <a:solidFill>
                  <a:srgbClr val="1F1F1F"/>
                </a:solidFill>
              </a:rPr>
              <a:t> </a:t>
            </a:r>
            <a:r>
              <a:rPr lang="en-IN" sz="6000">
                <a:solidFill>
                  <a:srgbClr val="1F1F1F"/>
                </a:solidFill>
              </a:rPr>
              <a:t>HQ</a:t>
            </a:r>
            <a:endParaRPr sz="6000">
              <a:solidFill>
                <a:srgbClr val="1F1F1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>
                <a:solidFill>
                  <a:srgbClr val="1F1F1F"/>
                </a:solidFill>
              </a:rPr>
              <a:t>Introduction</a:t>
            </a:r>
            <a:endParaRPr sz="7200">
              <a:solidFill>
                <a:schemeClr val="dk1"/>
              </a:solidFill>
            </a:endParaRPr>
          </a:p>
        </p:txBody>
      </p:sp>
      <p:sp>
        <p:nvSpPr>
          <p:cNvPr id="487" name="Google Shape;487;p47"/>
          <p:cNvSpPr txBox="1"/>
          <p:nvPr/>
        </p:nvSpPr>
        <p:spPr>
          <a:xfrm>
            <a:off x="1902750" y="6929425"/>
            <a:ext cx="39843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 Abhishek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Sen</a:t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488" name="Google Shape;488;p47"/>
          <p:cNvSpPr txBox="1"/>
          <p:nvPr/>
        </p:nvSpPr>
        <p:spPr>
          <a:xfrm>
            <a:off x="2199475" y="8288975"/>
            <a:ext cx="409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</a:rPr>
              <a:t>  Team Captain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9" name="Google Shape;489;p47"/>
          <p:cNvSpPr txBox="1"/>
          <p:nvPr/>
        </p:nvSpPr>
        <p:spPr>
          <a:xfrm>
            <a:off x="7420550" y="6910500"/>
            <a:ext cx="38727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  Neshanth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</a:rPr>
              <a:t>R</a:t>
            </a:r>
            <a:endParaRPr sz="3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</a:rPr>
              <a:t>Vice-Captain</a:t>
            </a:r>
            <a:endParaRPr/>
          </a:p>
        </p:txBody>
      </p:sp>
      <p:sp>
        <p:nvSpPr>
          <p:cNvPr id="490" name="Google Shape;490;p47"/>
          <p:cNvSpPr txBox="1"/>
          <p:nvPr/>
        </p:nvSpPr>
        <p:spPr>
          <a:xfrm>
            <a:off x="12571225" y="6848850"/>
            <a:ext cx="4092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Vigesh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>
                <a:solidFill>
                  <a:schemeClr val="dk1"/>
                </a:solidFill>
              </a:rPr>
              <a:t>Manager</a:t>
            </a:r>
            <a:endParaRPr/>
          </a:p>
        </p:txBody>
      </p:sp>
      <p:pic>
        <p:nvPicPr>
          <p:cNvPr id="491" name="Google Shape;491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2125" y="3914600"/>
            <a:ext cx="2770500" cy="2770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92" name="Google Shape;492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34350" y="3892875"/>
            <a:ext cx="2770500" cy="2770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93" name="Google Shape;493;p47"/>
          <p:cNvPicPr preferRelativeResize="0"/>
          <p:nvPr/>
        </p:nvPicPr>
        <p:blipFill rotWithShape="1">
          <a:blip r:embed="rId8">
            <a:alphaModFix/>
          </a:blip>
          <a:srcRect l="8576" r="6084" b="5722"/>
          <a:stretch/>
        </p:blipFill>
        <p:spPr>
          <a:xfrm>
            <a:off x="3205075" y="4069575"/>
            <a:ext cx="3087000" cy="2593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b1d1d9018_0_13"/>
          <p:cNvSpPr/>
          <p:nvPr/>
        </p:nvSpPr>
        <p:spPr>
          <a:xfrm rot="-8821447">
            <a:off x="12934084" y="-4415258"/>
            <a:ext cx="10457381" cy="8498999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500" name="Google Shape;500;g37b1d1d9018_0_13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1" name="Google Shape;501;g37b1d1d9018_0_13"/>
          <p:cNvSpPr/>
          <p:nvPr/>
        </p:nvSpPr>
        <p:spPr>
          <a:xfrm rot="3390499">
            <a:off x="-5029620" y="7416858"/>
            <a:ext cx="10456632" cy="8498390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502" name="Google Shape;502;g37b1d1d9018_0_13"/>
          <p:cNvSpPr txBox="1"/>
          <p:nvPr/>
        </p:nvSpPr>
        <p:spPr>
          <a:xfrm>
            <a:off x="3903163" y="589488"/>
            <a:ext cx="756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3" name="Google Shape;503;g37b1d1d9018_0_13"/>
          <p:cNvGrpSpPr/>
          <p:nvPr/>
        </p:nvGrpSpPr>
        <p:grpSpPr>
          <a:xfrm>
            <a:off x="381019" y="425393"/>
            <a:ext cx="3000973" cy="1733945"/>
            <a:chOff x="745617" y="2993529"/>
            <a:chExt cx="7941182" cy="4588371"/>
          </a:xfrm>
        </p:grpSpPr>
        <p:pic>
          <p:nvPicPr>
            <p:cNvPr id="504" name="Google Shape;504;g37b1d1d9018_0_13"/>
            <p:cNvPicPr preferRelativeResize="0"/>
            <p:nvPr/>
          </p:nvPicPr>
          <p:blipFill rotWithShape="1">
            <a:blip r:embed="rId5">
              <a:alphaModFix/>
            </a:blip>
            <a:srcRect b="25777"/>
            <a:stretch/>
          </p:blipFill>
          <p:spPr>
            <a:xfrm>
              <a:off x="745617" y="2993529"/>
              <a:ext cx="7941182" cy="3473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g37b1d1d9018_0_13"/>
            <p:cNvPicPr preferRelativeResize="0"/>
            <p:nvPr/>
          </p:nvPicPr>
          <p:blipFill rotWithShape="1">
            <a:blip r:embed="rId5">
              <a:alphaModFix/>
            </a:blip>
            <a:srcRect l="17375" t="76321" r="17375"/>
            <a:stretch/>
          </p:blipFill>
          <p:spPr>
            <a:xfrm>
              <a:off x="2125409" y="6473904"/>
              <a:ext cx="5181599" cy="11079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6" name="Google Shape;506;g37b1d1d9018_0_13"/>
          <p:cNvSpPr txBox="1"/>
          <p:nvPr/>
        </p:nvSpPr>
        <p:spPr>
          <a:xfrm>
            <a:off x="2076025" y="130600"/>
            <a:ext cx="155937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7200">
                <a:solidFill>
                  <a:srgbClr val="1F1F1F"/>
                </a:solidFill>
              </a:rPr>
              <a:t>Team</a:t>
            </a:r>
            <a:r>
              <a:rPr lang="en-IN" sz="9600">
                <a:solidFill>
                  <a:srgbClr val="1F1F1F"/>
                </a:solidFill>
              </a:rPr>
              <a:t> </a:t>
            </a:r>
            <a:r>
              <a:rPr lang="en-IN" sz="6000">
                <a:solidFill>
                  <a:srgbClr val="1F1F1F"/>
                </a:solidFill>
              </a:rPr>
              <a:t>Leads</a:t>
            </a:r>
            <a:endParaRPr sz="6000">
              <a:solidFill>
                <a:srgbClr val="1F1F1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7200">
                <a:solidFill>
                  <a:srgbClr val="1F1F1F"/>
                </a:solidFill>
              </a:rPr>
              <a:t>Introduction</a:t>
            </a:r>
            <a:endParaRPr sz="9600">
              <a:solidFill>
                <a:srgbClr val="1F1F1F"/>
              </a:solidFill>
            </a:endParaRPr>
          </a:p>
        </p:txBody>
      </p:sp>
      <p:pic>
        <p:nvPicPr>
          <p:cNvPr id="507" name="Google Shape;507;g37b1d1d9018_0_13" title="aakash cs lead.jpg"/>
          <p:cNvPicPr preferRelativeResize="0"/>
          <p:nvPr/>
        </p:nvPicPr>
        <p:blipFill rotWithShape="1">
          <a:blip r:embed="rId6">
            <a:alphaModFix/>
          </a:blip>
          <a:srcRect l="-8295" t="-1406" b="48146"/>
          <a:stretch/>
        </p:blipFill>
        <p:spPr>
          <a:xfrm>
            <a:off x="14206100" y="3429000"/>
            <a:ext cx="3872700" cy="3876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08" name="Google Shape;508;g37b1d1d9018_0_13"/>
          <p:cNvSpPr txBox="1"/>
          <p:nvPr/>
        </p:nvSpPr>
        <p:spPr>
          <a:xfrm>
            <a:off x="9495888" y="7305000"/>
            <a:ext cx="40572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 Pritha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CS lead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Aerothon 2025</a:t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509" name="Google Shape;509;g37b1d1d9018_0_13"/>
          <p:cNvSpPr txBox="1"/>
          <p:nvPr/>
        </p:nvSpPr>
        <p:spPr>
          <a:xfrm>
            <a:off x="14094200" y="7468425"/>
            <a:ext cx="38727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 Akash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CS lead 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ISRO 2025</a:t>
            </a:r>
            <a:endParaRPr sz="4400">
              <a:solidFill>
                <a:schemeClr val="dk1"/>
              </a:solidFill>
            </a:endParaRPr>
          </a:p>
        </p:txBody>
      </p:sp>
      <p:pic>
        <p:nvPicPr>
          <p:cNvPr id="510" name="Google Shape;510;g37b1d1d9018_0_13"/>
          <p:cNvPicPr preferRelativeResize="0"/>
          <p:nvPr/>
        </p:nvPicPr>
        <p:blipFill rotWithShape="1">
          <a:blip r:embed="rId7">
            <a:alphaModFix/>
          </a:blip>
          <a:srcRect t="15536" b="29893"/>
          <a:stretch/>
        </p:blipFill>
        <p:spPr>
          <a:xfrm>
            <a:off x="9688050" y="3919875"/>
            <a:ext cx="3672900" cy="356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11" name="Google Shape;511;g37b1d1d9018_0_13"/>
          <p:cNvPicPr preferRelativeResize="0"/>
          <p:nvPr/>
        </p:nvPicPr>
        <p:blipFill rotWithShape="1">
          <a:blip r:embed="rId8">
            <a:alphaModFix/>
          </a:blip>
          <a:srcRect l="21839" r="8092"/>
          <a:stretch/>
        </p:blipFill>
        <p:spPr>
          <a:xfrm rot="5400000">
            <a:off x="1470150" y="4513275"/>
            <a:ext cx="3156000" cy="2754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2" name="Google Shape;512;g37b1d1d9018_0_13"/>
          <p:cNvSpPr txBox="1"/>
          <p:nvPr/>
        </p:nvSpPr>
        <p:spPr>
          <a:xfrm>
            <a:off x="1548150" y="7605825"/>
            <a:ext cx="30000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Venu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Mech lead</a:t>
            </a:r>
            <a:endParaRPr sz="4400">
              <a:solidFill>
                <a:schemeClr val="dk1"/>
              </a:solidFill>
            </a:endParaRPr>
          </a:p>
        </p:txBody>
      </p:sp>
      <p:pic>
        <p:nvPicPr>
          <p:cNvPr id="513" name="Google Shape;513;g37b1d1d9018_0_13"/>
          <p:cNvPicPr preferRelativeResize="0"/>
          <p:nvPr/>
        </p:nvPicPr>
        <p:blipFill rotWithShape="1">
          <a:blip r:embed="rId9">
            <a:alphaModFix/>
          </a:blip>
          <a:srcRect l="15178" r="11102"/>
          <a:stretch/>
        </p:blipFill>
        <p:spPr>
          <a:xfrm rot="5400000">
            <a:off x="5538700" y="4301625"/>
            <a:ext cx="3430800" cy="3177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4" name="Google Shape;514;g37b1d1d9018_0_13"/>
          <p:cNvSpPr txBox="1"/>
          <p:nvPr/>
        </p:nvSpPr>
        <p:spPr>
          <a:xfrm>
            <a:off x="5618100" y="7807850"/>
            <a:ext cx="30000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Prajay</a:t>
            </a:r>
            <a:endParaRPr sz="4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chemeClr val="dk1"/>
                </a:solidFill>
              </a:rPr>
              <a:t>ECE lead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8"/>
          <p:cNvSpPr/>
          <p:nvPr/>
        </p:nvSpPr>
        <p:spPr>
          <a:xfrm rot="-8820945">
            <a:off x="10618763" y="-551056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521" name="Google Shape;521;p48"/>
          <p:cNvCxnSpPr/>
          <p:nvPr/>
        </p:nvCxnSpPr>
        <p:spPr>
          <a:xfrm>
            <a:off x="9448800" y="-2857500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2" name="Google Shape;522;p48"/>
          <p:cNvSpPr/>
          <p:nvPr/>
        </p:nvSpPr>
        <p:spPr>
          <a:xfrm rot="2542339">
            <a:off x="-3027412" y="6868341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523" name="Google Shape;523;p48"/>
          <p:cNvCxnSpPr/>
          <p:nvPr/>
        </p:nvCxnSpPr>
        <p:spPr>
          <a:xfrm>
            <a:off x="9144000" y="4576561"/>
            <a:ext cx="0" cy="259389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p48"/>
          <p:cNvSpPr txBox="1"/>
          <p:nvPr/>
        </p:nvSpPr>
        <p:spPr>
          <a:xfrm>
            <a:off x="9601198" y="1689629"/>
            <a:ext cx="7560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IN" sz="96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8"/>
          <p:cNvSpPr txBox="1"/>
          <p:nvPr/>
        </p:nvSpPr>
        <p:spPr>
          <a:xfrm>
            <a:off x="9601198" y="3297717"/>
            <a:ext cx="82404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Symbols"/>
              <a:buChar char="▪"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achieve Autonomous flight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Symbols"/>
              <a:buChar char="▪"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Improving payload dropping mechanism.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Symbols"/>
              <a:buChar char="▪"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the design process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0" indent="-685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Symbols"/>
              <a:buChar char="▪"/>
            </a:pPr>
            <a:r>
              <a:rPr lang="en-IN"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build a fixed wing autonomous UAV.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48"/>
          <p:cNvPicPr preferRelativeResize="0"/>
          <p:nvPr/>
        </p:nvPicPr>
        <p:blipFill rotWithShape="1">
          <a:blip r:embed="rId5">
            <a:alphaModFix/>
          </a:blip>
          <a:srcRect b="-2942"/>
          <a:stretch/>
        </p:blipFill>
        <p:spPr>
          <a:xfrm>
            <a:off x="633197" y="3162300"/>
            <a:ext cx="8053606" cy="488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b1e4d818e_3_4"/>
          <p:cNvSpPr/>
          <p:nvPr/>
        </p:nvSpPr>
        <p:spPr>
          <a:xfrm rot="-8821447">
            <a:off x="10608264" y="-5524228"/>
            <a:ext cx="10457381" cy="8498999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cxnSp>
        <p:nvCxnSpPr>
          <p:cNvPr id="546" name="Google Shape;546;g37b1e4d818e_3_4"/>
          <p:cNvCxnSpPr/>
          <p:nvPr/>
        </p:nvCxnSpPr>
        <p:spPr>
          <a:xfrm>
            <a:off x="9448800" y="-2857500"/>
            <a:ext cx="0" cy="259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7" name="Google Shape;547;g37b1e4d818e_3_4"/>
          <p:cNvSpPr/>
          <p:nvPr/>
        </p:nvSpPr>
        <p:spPr>
          <a:xfrm rot="2542193">
            <a:off x="-3033935" y="6872183"/>
            <a:ext cx="10460510" cy="8501542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548" name="Google Shape;548;g37b1e4d818e_3_4"/>
          <p:cNvSpPr txBox="1"/>
          <p:nvPr/>
        </p:nvSpPr>
        <p:spPr>
          <a:xfrm>
            <a:off x="3903163" y="743238"/>
            <a:ext cx="756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7b1e4d818e_3_4"/>
          <p:cNvSpPr txBox="1"/>
          <p:nvPr/>
        </p:nvSpPr>
        <p:spPr>
          <a:xfrm>
            <a:off x="2525034" y="3354347"/>
            <a:ext cx="1384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0" name="Google Shape;550;g37b1e4d818e_3_4"/>
          <p:cNvGrpSpPr/>
          <p:nvPr/>
        </p:nvGrpSpPr>
        <p:grpSpPr>
          <a:xfrm>
            <a:off x="381019" y="425393"/>
            <a:ext cx="3000973" cy="1733945"/>
            <a:chOff x="745617" y="2993529"/>
            <a:chExt cx="7941182" cy="4588371"/>
          </a:xfrm>
        </p:grpSpPr>
        <p:pic>
          <p:nvPicPr>
            <p:cNvPr id="551" name="Google Shape;551;g37b1e4d818e_3_4"/>
            <p:cNvPicPr preferRelativeResize="0"/>
            <p:nvPr/>
          </p:nvPicPr>
          <p:blipFill rotWithShape="1">
            <a:blip r:embed="rId5">
              <a:alphaModFix/>
            </a:blip>
            <a:srcRect b="25777"/>
            <a:stretch/>
          </p:blipFill>
          <p:spPr>
            <a:xfrm>
              <a:off x="745617" y="2993529"/>
              <a:ext cx="7941182" cy="3473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g37b1e4d818e_3_4"/>
            <p:cNvPicPr preferRelativeResize="0"/>
            <p:nvPr/>
          </p:nvPicPr>
          <p:blipFill rotWithShape="1">
            <a:blip r:embed="rId5">
              <a:alphaModFix/>
            </a:blip>
            <a:srcRect l="17375" t="76321" r="17375"/>
            <a:stretch/>
          </p:blipFill>
          <p:spPr>
            <a:xfrm>
              <a:off x="2125409" y="6473904"/>
              <a:ext cx="5181599" cy="11079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3" name="Google Shape;553;g37b1e4d818e_3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4500" y="2613425"/>
            <a:ext cx="5129254" cy="59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37b1e4d818e_3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43175" y="2613413"/>
            <a:ext cx="5129251" cy="590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g327858be4ea_0_33" title="Astra_drone_video1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923975"/>
            <a:ext cx="5467726" cy="8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27858be4ea_0_33" title="Astra_drone_video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2325" y="1923975"/>
            <a:ext cx="5467726" cy="8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327858be4ea_0_33" title="Astra_drone_video3.mp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05825" y="1923975"/>
            <a:ext cx="5701300" cy="83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27858be4ea_0_33"/>
          <p:cNvSpPr txBox="1"/>
          <p:nvPr/>
        </p:nvSpPr>
        <p:spPr>
          <a:xfrm>
            <a:off x="6998600" y="94700"/>
            <a:ext cx="2991300" cy="1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Videos</a:t>
            </a:r>
            <a:endParaRPr sz="7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Custom</PresentationFormat>
  <Paragraphs>91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Century Schoolbook</vt:lpstr>
      <vt:lpstr>Noto Sans Symbols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ANMOL</dc:creator>
  <cp:lastModifiedBy>Abhishek Sen</cp:lastModifiedBy>
  <cp:revision>1</cp:revision>
  <dcterms:created xsi:type="dcterms:W3CDTF">2006-08-16T00:00:00Z</dcterms:created>
  <dcterms:modified xsi:type="dcterms:W3CDTF">2026-06-19T21:12:04Z</dcterms:modified>
</cp:coreProperties>
</file>